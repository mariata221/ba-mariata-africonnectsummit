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5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3B3E"/>
    <a:srgbClr val="0034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4032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07679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81418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121253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09234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44563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60028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22294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256702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95844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32886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7929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922463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964414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817123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831177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15814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CAB3CCC-410E-4F35-B38D-D59BA64FB875}" type="datetimeFigureOut">
              <a:rPr lang="fr-SN" smtClean="0"/>
              <a:t>02/08/2026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90E1D-34A9-4573-B990-98F65B91F9A9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7748293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02" name="Oval 10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/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8C1D893-B8BF-46F7-2539-17D9F7832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6"/>
            <a:ext cx="9252154" cy="12239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AfriconnectSummit</a:t>
            </a:r>
            <a:br>
              <a:rPr lang="en-US" sz="39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9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762A27-83F0-65E5-8B99-D58395EF1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3311" y="2052214"/>
            <a:ext cx="5965394" cy="419618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Wingdings 3" charset="2"/>
              <a:buChar char=""/>
            </a:pPr>
            <a:r>
              <a:rPr lang="en-US" dirty="0">
                <a:solidFill>
                  <a:schemeClr val="tx1"/>
                </a:solidFill>
              </a:rPr>
              <a:t>Un site pour connecter les bâtisseurs de l'Afrique de demain</a:t>
            </a:r>
          </a:p>
          <a:p>
            <a:pPr indent="-228600">
              <a:buFont typeface="Wingdings 3" charset="2"/>
              <a:buChar char=""/>
            </a:pPr>
            <a:endParaRPr lang="en-US" dirty="0">
              <a:solidFill>
                <a:schemeClr val="tx1"/>
              </a:solidFill>
            </a:endParaRPr>
          </a:p>
          <a:p>
            <a:pPr indent="-228600">
              <a:buFont typeface="Wingdings 3" charset="2"/>
              <a:buChar char=""/>
            </a:pPr>
            <a:endParaRPr lang="en-US" dirty="0">
              <a:solidFill>
                <a:schemeClr val="tx1"/>
              </a:solidFill>
            </a:endParaRPr>
          </a:p>
          <a:p>
            <a:pPr indent="-228600">
              <a:buFont typeface="Wingdings 3" charset="2"/>
              <a:buChar char=""/>
            </a:pPr>
            <a:r>
              <a:rPr lang="en-US" dirty="0">
                <a:solidFill>
                  <a:schemeClr val="tx1"/>
                </a:solidFill>
              </a:rPr>
              <a:t> Nom: Mariata Ba</a:t>
            </a:r>
          </a:p>
          <a:p>
            <a:pPr indent="-228600">
              <a:buFont typeface="Wingdings 3" charset="2"/>
              <a:buChar char=""/>
            </a:pPr>
            <a:r>
              <a:rPr lang="en-US" dirty="0">
                <a:solidFill>
                  <a:schemeClr val="tx1"/>
                </a:solidFill>
              </a:rPr>
              <a:t>Classe:L1 IAGEnr</a:t>
            </a:r>
          </a:p>
          <a:p>
            <a:pPr indent="-228600">
              <a:buFont typeface="Wingdings 3" charset="2"/>
              <a:buChar char=""/>
            </a:pPr>
            <a:r>
              <a:rPr lang="en-US" dirty="0">
                <a:solidFill>
                  <a:schemeClr val="tx1"/>
                </a:solidFill>
              </a:rPr>
              <a:t>Date:2026</a:t>
            </a:r>
          </a:p>
        </p:txBody>
      </p:sp>
      <p:pic>
        <p:nvPicPr>
          <p:cNvPr id="93" name="Graphique 92" descr="Afrique avec un remplissage uni">
            <a:extLst>
              <a:ext uri="{FF2B5EF4-FFF2-40B4-BE49-F238E27FC236}">
                <a16:creationId xmlns:a16="http://schemas.microsoft.com/office/drawing/2014/main" id="{1DEE5288-5AEB-21B3-B69D-ACA87F34D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34655" y="2145861"/>
            <a:ext cx="4008888" cy="400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7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B29F48-96F3-C627-043B-1E9EA109E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97224"/>
            <a:ext cx="9404723" cy="1129552"/>
          </a:xfrm>
        </p:spPr>
        <p:txBody>
          <a:bodyPr/>
          <a:lstStyle/>
          <a:p>
            <a:r>
              <a:rPr lang="fr-SN" dirty="0"/>
              <a:t>— 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DBAB8E-2B7F-1023-8304-F9A995C06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6156"/>
            <a:ext cx="10515600" cy="56818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SN" sz="2800" dirty="0"/>
              <a:t>1. Présentation du projet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/>
              <a:t>2. Cahier des charges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/>
              <a:t>3. Design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/>
              <a:t>4. Architecture technique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/>
              <a:t>5. Fonctionnalités phares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/>
              <a:t>6. Gestion de projet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/>
              <a:t>7. Défis &amp; apprentissages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/>
              <a:t>Aperçu des 4 pages du site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/>
              <a:t>Presentation des  pages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/>
              <a:t>8. Résultat, démo &amp; perspectives</a:t>
            </a:r>
          </a:p>
        </p:txBody>
      </p:sp>
    </p:spTree>
    <p:extLst>
      <p:ext uri="{BB962C8B-B14F-4D97-AF65-F5344CB8AC3E}">
        <p14:creationId xmlns:p14="http://schemas.microsoft.com/office/powerpoint/2010/main" val="3264673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9AC9A9-EBB0-0055-016F-7128020B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SN" dirty="0"/>
              <a:t>__Présentation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C54733-4E59-00FA-1BFF-97D4E8263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966" y="1541929"/>
            <a:ext cx="9278888" cy="5316071"/>
          </a:xfrm>
        </p:spPr>
        <p:txBody>
          <a:bodyPr>
            <a:normAutofit fontScale="92500" lnSpcReduction="10000"/>
          </a:bodyPr>
          <a:lstStyle/>
          <a:p>
            <a:r>
              <a:rPr lang="fr-SN" dirty="0"/>
              <a:t>Contexte</a:t>
            </a:r>
          </a:p>
          <a:p>
            <a:pPr marL="0" indent="0">
              <a:buNone/>
            </a:pPr>
            <a:r>
              <a:rPr lang="fr-SN" dirty="0"/>
              <a:t>    Réalisation d'un site vitrine multi-pages pour un sommet panafricain fictif  </a:t>
            </a:r>
          </a:p>
          <a:p>
            <a:pPr marL="0" indent="0">
              <a:buNone/>
            </a:pPr>
            <a:r>
              <a:rPr lang="fr-SN" dirty="0"/>
              <a:t>    dédié à la tech, au business et à l'innovation, prévu du 18 au 20 septembr</a:t>
            </a:r>
          </a:p>
          <a:p>
            <a:pPr marL="0" indent="0">
              <a:buNone/>
            </a:pPr>
            <a:r>
              <a:rPr lang="fr-SN" dirty="0"/>
              <a:t>    2026 à Kigali.</a:t>
            </a:r>
          </a:p>
          <a:p>
            <a:r>
              <a:rPr lang="fr-SN" dirty="0"/>
              <a:t>Objectif</a:t>
            </a:r>
          </a:p>
          <a:p>
            <a:pPr marL="0" indent="0">
              <a:buNone/>
            </a:pPr>
            <a:r>
              <a:rPr lang="fr-SN" dirty="0"/>
              <a:t>     Présenter l'événement, son programme et ses intervenants, et  </a:t>
            </a:r>
          </a:p>
          <a:p>
            <a:pPr marL="0" indent="0">
              <a:buNone/>
            </a:pPr>
            <a:r>
              <a:rPr lang="fr-SN" dirty="0"/>
              <a:t>      permettre aux visiteurs de s'inscrire via un formulaire validé, sur un site   </a:t>
            </a:r>
          </a:p>
          <a:p>
            <a:pPr marL="0" indent="0">
              <a:buNone/>
            </a:pPr>
            <a:r>
              <a:rPr lang="fr-SN" dirty="0"/>
              <a:t>      responsive et interactif.</a:t>
            </a:r>
          </a:p>
          <a:p>
            <a:r>
              <a:rPr lang="fr-SN" dirty="0"/>
              <a:t>Public cibleFondateurs de startups, investisseurs, professionnels de la tech, étudiants</a:t>
            </a:r>
          </a:p>
          <a:p>
            <a:pPr marL="0" indent="0">
              <a:buNone/>
            </a:pPr>
            <a:r>
              <a:rPr lang="fr-SN" dirty="0"/>
              <a:t>      et journalistes intéressés par l'écosystème entrepreneurial africain.</a:t>
            </a:r>
          </a:p>
          <a:p>
            <a:r>
              <a:rPr lang="fr-SN" dirty="0"/>
              <a:t>Un site statique HTML / CSS / JS, responsive, sans backend, pensé pour être livré</a:t>
            </a:r>
          </a:p>
          <a:p>
            <a:pPr marL="0" indent="0">
              <a:buNone/>
            </a:pPr>
            <a:r>
              <a:rPr lang="fr-SN" dirty="0"/>
              <a:t>      rapidement.</a:t>
            </a:r>
          </a:p>
        </p:txBody>
      </p:sp>
    </p:spTree>
    <p:extLst>
      <p:ext uri="{BB962C8B-B14F-4D97-AF65-F5344CB8AC3E}">
        <p14:creationId xmlns:p14="http://schemas.microsoft.com/office/powerpoint/2010/main" val="123247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9D8B00-2BFD-49DE-5A6C-0139DF80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SN" dirty="0"/>
              <a:t> — CAHIER DES CHARGES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17AFC1-3DA3-98B3-027C-2EAFBCD51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145741"/>
          </a:xfrm>
        </p:spPr>
        <p:txBody>
          <a:bodyPr>
            <a:normAutofit fontScale="92500" lnSpcReduction="20000"/>
          </a:bodyPr>
          <a:lstStyle/>
          <a:p>
            <a:r>
              <a:rPr lang="fr-SN" dirty="0"/>
              <a:t>Pour qui, et avec quelles contraintes ?</a:t>
            </a:r>
          </a:p>
          <a:p>
            <a:pPr marL="0" indent="0">
              <a:buNone/>
            </a:pPr>
            <a:endParaRPr lang="fr-SN" dirty="0"/>
          </a:p>
          <a:p>
            <a:r>
              <a:rPr lang="fr-SN" dirty="0"/>
              <a:t>Public cible</a:t>
            </a:r>
          </a:p>
          <a:p>
            <a:pPr marL="0" indent="0">
              <a:buNone/>
            </a:pPr>
            <a:r>
              <a:rPr lang="fr-SN" dirty="0"/>
              <a:t>- Fondateurs de startups</a:t>
            </a:r>
          </a:p>
          <a:p>
            <a:pPr marL="0" indent="0">
              <a:buNone/>
            </a:pPr>
            <a:r>
              <a:rPr lang="fr-SN" dirty="0"/>
              <a:t>- Investisseurs</a:t>
            </a:r>
          </a:p>
          <a:p>
            <a:pPr marL="0" indent="0">
              <a:buNone/>
            </a:pPr>
            <a:r>
              <a:rPr lang="fr-SN" dirty="0"/>
              <a:t>- Professionnels de la tech</a:t>
            </a:r>
          </a:p>
          <a:p>
            <a:pPr marL="0" indent="0">
              <a:buNone/>
            </a:pPr>
            <a:r>
              <a:rPr lang="fr-SN" dirty="0"/>
              <a:t>- Étudiants</a:t>
            </a:r>
          </a:p>
          <a:p>
            <a:pPr>
              <a:buFontTx/>
              <a:buChar char="-"/>
            </a:pPr>
            <a:r>
              <a:rPr lang="fr-SN" dirty="0"/>
              <a:t>Journalistes</a:t>
            </a:r>
          </a:p>
          <a:p>
            <a:pPr marL="0" indent="0">
              <a:buNone/>
            </a:pPr>
            <a:endParaRPr lang="fr-SN" dirty="0"/>
          </a:p>
          <a:p>
            <a:r>
              <a:rPr lang="fr-SN" dirty="0"/>
              <a:t>Contraintes techniques</a:t>
            </a:r>
          </a:p>
          <a:p>
            <a:pPr marL="0" indent="0">
              <a:buNone/>
            </a:pPr>
            <a:r>
              <a:rPr lang="fr-SN" dirty="0"/>
              <a:t>- Site 100% statique (pas de backend, pas de base de données)</a:t>
            </a:r>
          </a:p>
          <a:p>
            <a:pPr marL="0" indent="0">
              <a:buNone/>
            </a:pPr>
            <a:r>
              <a:rPr lang="fr-SN" dirty="0"/>
              <a:t>- Responsive : mobile, tablette, desktop</a:t>
            </a:r>
          </a:p>
          <a:p>
            <a:pPr marL="0" indent="0">
              <a:buNone/>
            </a:pPr>
            <a:r>
              <a:rPr lang="fr-SN" dirty="0"/>
              <a:t>- Interactions riches en JavaScript vanilla (pas de framework)</a:t>
            </a:r>
          </a:p>
          <a:p>
            <a:pPr marL="0" indent="0">
              <a:buNone/>
            </a:pPr>
            <a:r>
              <a:rPr lang="fr-SN" dirty="0"/>
              <a:t>- Hébergement simple via GitHub Pages</a:t>
            </a:r>
          </a:p>
        </p:txBody>
      </p:sp>
    </p:spTree>
    <p:extLst>
      <p:ext uri="{BB962C8B-B14F-4D97-AF65-F5344CB8AC3E}">
        <p14:creationId xmlns:p14="http://schemas.microsoft.com/office/powerpoint/2010/main" val="554359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96BEF-79AF-F40C-F638-50B6BEF2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fr-SN" dirty="0"/>
              <a:t> — DESIGN SYSTEM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85140F-7AE9-8AAF-C4F2-141480890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5459506"/>
          </a:xfrm>
        </p:spPr>
        <p:txBody>
          <a:bodyPr>
            <a:normAutofit fontScale="77500" lnSpcReduction="20000"/>
          </a:bodyPr>
          <a:lstStyle/>
          <a:p>
            <a:r>
              <a:rPr lang="fr-SN" sz="3600" dirty="0"/>
              <a:t>Palette, typographie &amp; inspirations</a:t>
            </a:r>
          </a:p>
          <a:p>
            <a:r>
              <a:rPr lang="fr-SN" sz="3600" b="1" dirty="0"/>
              <a:t>Palette</a:t>
            </a:r>
          </a:p>
          <a:p>
            <a:r>
              <a:rPr lang="fr-SN" dirty="0"/>
              <a:t>Principal — #0d3b3e</a:t>
            </a:r>
          </a:p>
          <a:p>
            <a:r>
              <a:rPr lang="fr-SN" dirty="0"/>
              <a:t>Secondaire — #f0a830</a:t>
            </a:r>
          </a:p>
          <a:p>
            <a:r>
              <a:rPr lang="fr-SN" dirty="0"/>
              <a:t>Fond clair — #f8fafc</a:t>
            </a:r>
          </a:p>
          <a:p>
            <a:pPr marL="0" indent="0">
              <a:buNone/>
            </a:pPr>
            <a:r>
              <a:rPr lang="fr-SN" sz="3600" b="1" dirty="0"/>
              <a:t>     Typographie</a:t>
            </a:r>
          </a:p>
          <a:p>
            <a:r>
              <a:rPr lang="fr-SN" dirty="0"/>
              <a:t>Poppins — titresIdentité moderne et géométrique.</a:t>
            </a:r>
          </a:p>
          <a:p>
            <a:r>
              <a:rPr lang="fr-SN" dirty="0"/>
              <a:t>Roboto / Open Sans / Inter — corps</a:t>
            </a:r>
          </a:p>
          <a:p>
            <a:r>
              <a:rPr lang="fr-SN" dirty="0"/>
              <a:t>Lisibilité optimale sur écran.</a:t>
            </a:r>
          </a:p>
          <a:p>
            <a:r>
              <a:rPr lang="fr-SN" sz="3200" b="1" dirty="0"/>
              <a:t>Inspirations</a:t>
            </a:r>
          </a:p>
          <a:p>
            <a:r>
              <a:rPr lang="fr-SN" dirty="0"/>
              <a:t> Sites de conférences tech internationales : hiérarchie claire, sections courtes.</a:t>
            </a:r>
          </a:p>
          <a:p>
            <a:r>
              <a:rPr lang="fr-SN" dirty="0"/>
              <a:t>Codes visuels "corporate premium" :</a:t>
            </a:r>
          </a:p>
          <a:p>
            <a:pPr marL="0" indent="0">
              <a:buNone/>
            </a:pPr>
            <a:r>
              <a:rPr lang="fr-SN" dirty="0"/>
              <a:t>     fonds sombres, touches or</a:t>
            </a:r>
          </a:p>
          <a:p>
            <a:r>
              <a:rPr lang="fr-SN" dirty="0"/>
              <a:t>Motif afrofuturiste sobre :</a:t>
            </a:r>
          </a:p>
          <a:p>
            <a:pPr marL="0" indent="0">
              <a:buNone/>
            </a:pPr>
            <a:r>
              <a:rPr lang="fr-SN" dirty="0"/>
              <a:t>    palette terre/or plutôt que le bleu générique.</a:t>
            </a:r>
          </a:p>
        </p:txBody>
      </p:sp>
    </p:spTree>
    <p:extLst>
      <p:ext uri="{BB962C8B-B14F-4D97-AF65-F5344CB8AC3E}">
        <p14:creationId xmlns:p14="http://schemas.microsoft.com/office/powerpoint/2010/main" val="3087154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8FA3FF-C3EE-0516-53B6-3F1114F4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80565"/>
          </a:xfrm>
        </p:spPr>
        <p:txBody>
          <a:bodyPr/>
          <a:lstStyle/>
          <a:p>
            <a:r>
              <a:rPr lang="fr-SN" dirty="0"/>
              <a:t> — ARCHITECTURE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6EB025-EA1B-D9A6-B773-7E71BAE0F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341"/>
            <a:ext cx="10515600" cy="5674659"/>
          </a:xfrm>
        </p:spPr>
        <p:txBody>
          <a:bodyPr>
            <a:normAutofit fontScale="70000" lnSpcReduction="20000"/>
          </a:bodyPr>
          <a:lstStyle/>
          <a:p>
            <a:r>
              <a:rPr lang="fr-SN" sz="3800" dirty="0"/>
              <a:t>Comment le site est construit</a:t>
            </a:r>
          </a:p>
          <a:p>
            <a:pPr marL="0" indent="0">
              <a:buNone/>
            </a:pPr>
            <a:r>
              <a:rPr lang="fr-SN" sz="3200" b="1" dirty="0"/>
              <a:t>AfriconnectSummit/</a:t>
            </a:r>
          </a:p>
          <a:p>
            <a:pPr marL="0" indent="0">
              <a:buNone/>
            </a:pPr>
            <a:r>
              <a:rPr lang="fr-SN" dirty="0"/>
              <a:t>├── index.html</a:t>
            </a:r>
          </a:p>
          <a:p>
            <a:pPr marL="0" indent="0">
              <a:buNone/>
            </a:pPr>
            <a:r>
              <a:rPr lang="fr-SN" dirty="0"/>
              <a:t>├── programme.html</a:t>
            </a:r>
          </a:p>
          <a:p>
            <a:pPr marL="0" indent="0">
              <a:buNone/>
            </a:pPr>
            <a:r>
              <a:rPr lang="fr-SN" dirty="0"/>
              <a:t>├── intervenants.html</a:t>
            </a:r>
          </a:p>
          <a:p>
            <a:pPr marL="0" indent="0">
              <a:buNone/>
            </a:pPr>
            <a:r>
              <a:rPr lang="fr-SN" dirty="0"/>
              <a:t>├── contact.html</a:t>
            </a:r>
          </a:p>
          <a:p>
            <a:pPr marL="0" indent="0">
              <a:buNone/>
            </a:pPr>
            <a:r>
              <a:rPr lang="fr-SN" dirty="0"/>
              <a:t>├── css/│ </a:t>
            </a:r>
          </a:p>
          <a:p>
            <a:pPr marL="0" indent="0">
              <a:buNone/>
            </a:pPr>
            <a:r>
              <a:rPr lang="fr-SN" dirty="0"/>
              <a:t>                └── style.css</a:t>
            </a:r>
          </a:p>
          <a:p>
            <a:pPr marL="0" indent="0">
              <a:buNone/>
            </a:pPr>
            <a:r>
              <a:rPr lang="fr-SN" dirty="0"/>
              <a:t>├── js/│  </a:t>
            </a:r>
          </a:p>
          <a:p>
            <a:pPr marL="0" indent="0">
              <a:buNone/>
            </a:pPr>
            <a:r>
              <a:rPr lang="fr-SN" dirty="0"/>
              <a:t>             └── main.js</a:t>
            </a:r>
          </a:p>
          <a:p>
            <a:pPr marL="0" indent="0">
              <a:buNone/>
            </a:pPr>
            <a:r>
              <a:rPr lang="fr-SN" dirty="0"/>
              <a:t>└── images/</a:t>
            </a:r>
          </a:p>
          <a:p>
            <a:pPr marL="0" indent="0">
              <a:buNone/>
            </a:pPr>
            <a:r>
              <a:rPr lang="fr-SN" sz="3200" b="1" dirty="0"/>
              <a:t>Stack technique</a:t>
            </a:r>
          </a:p>
          <a:p>
            <a:pPr marL="0" indent="0">
              <a:buNone/>
            </a:pPr>
            <a:r>
              <a:rPr lang="fr-SN" dirty="0"/>
              <a:t>- HTML5 sémantique</a:t>
            </a:r>
          </a:p>
          <a:p>
            <a:pPr marL="0" indent="0">
              <a:buNone/>
            </a:pPr>
            <a:r>
              <a:rPr lang="fr-SN" dirty="0"/>
              <a:t>- CSS3 — variables, Grid, Flexbox, media queries</a:t>
            </a:r>
          </a:p>
          <a:p>
            <a:pPr marL="0" indent="0">
              <a:buNone/>
            </a:pPr>
            <a:r>
              <a:rPr lang="fr-SN" dirty="0"/>
              <a:t>- JavaScript vanilla</a:t>
            </a:r>
          </a:p>
          <a:p>
            <a:pPr>
              <a:buFontTx/>
              <a:buChar char="-"/>
            </a:pPr>
            <a:r>
              <a:rPr lang="fr-SN" dirty="0"/>
              <a:t>Bootstrap Icons (CDN)</a:t>
            </a:r>
          </a:p>
          <a:p>
            <a:pPr marL="0" indent="0">
              <a:buNone/>
            </a:pPr>
            <a:r>
              <a:rPr lang="fr-SN" dirty="0"/>
              <a:t>- Google Fonts</a:t>
            </a:r>
          </a:p>
        </p:txBody>
      </p:sp>
    </p:spTree>
    <p:extLst>
      <p:ext uri="{BB962C8B-B14F-4D97-AF65-F5344CB8AC3E}">
        <p14:creationId xmlns:p14="http://schemas.microsoft.com/office/powerpoint/2010/main" val="72836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4333C-0E27-CFE7-DFEF-E5CF2AA3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19199"/>
          </a:xfrm>
        </p:spPr>
        <p:txBody>
          <a:bodyPr/>
          <a:lstStyle/>
          <a:p>
            <a:r>
              <a:rPr lang="fr-SN" dirty="0"/>
              <a:t> — FONCTIONNALITÉS PHARES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0F6C01-1D61-8D99-C45A-F12721653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0965"/>
            <a:ext cx="10515600" cy="60870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fr-SN" dirty="0"/>
          </a:p>
          <a:p>
            <a:r>
              <a:rPr lang="fr-SN" dirty="0"/>
              <a:t> Filtrage des intervenants par catégorie</a:t>
            </a:r>
          </a:p>
          <a:p>
            <a:r>
              <a:rPr lang="fr-SN" dirty="0"/>
              <a:t>Formulaire d'inscription validé en temps réel</a:t>
            </a:r>
          </a:p>
          <a:p>
            <a:r>
              <a:rPr lang="fr-SN" dirty="0"/>
              <a:t> Mode sombre persistant (localStorage)</a:t>
            </a:r>
          </a:p>
          <a:p>
            <a:r>
              <a:rPr lang="fr-SN" dirty="0"/>
              <a:t> Compte à rebours en direct vers l'événement</a:t>
            </a:r>
          </a:p>
          <a:p>
            <a:r>
              <a:rPr lang="fr-SN" dirty="0"/>
              <a:t> Compteurs animés au scroll</a:t>
            </a:r>
          </a:p>
          <a:p>
            <a:r>
              <a:rPr lang="fr-SN" dirty="0"/>
              <a:t> Planning à onglets et FAQ en accordéon</a:t>
            </a:r>
          </a:p>
          <a:p>
            <a:pPr marL="0" indent="0">
              <a:buNone/>
            </a:pPr>
            <a:endParaRPr lang="fr-SN" dirty="0"/>
          </a:p>
          <a:p>
            <a:pPr marL="0" indent="0">
              <a:buNone/>
            </a:pPr>
            <a:r>
              <a:rPr lang="fr-SN" dirty="0"/>
              <a:t> // Exemple : filtrage dynamique filterbuttons.forEach(button =&gt;  {</a:t>
            </a:r>
          </a:p>
          <a:p>
            <a:pPr marL="0" indent="0">
              <a:buNone/>
            </a:pPr>
            <a:r>
              <a:rPr lang="fr-SN" dirty="0"/>
              <a:t>  button.addEventListener("click", () =&gt; {    </a:t>
            </a:r>
          </a:p>
          <a:p>
            <a:pPr marL="0" indent="0">
              <a:buNone/>
            </a:pPr>
            <a:r>
              <a:rPr lang="fr-SN" dirty="0"/>
              <a:t>const category = </a:t>
            </a:r>
          </a:p>
          <a:p>
            <a:pPr marL="0" indent="0">
              <a:buNone/>
            </a:pPr>
            <a:r>
              <a:rPr lang="fr-SN" dirty="0"/>
              <a:t>button.dataset.name;   </a:t>
            </a:r>
          </a:p>
          <a:p>
            <a:pPr marL="0" indent="0">
              <a:buNone/>
            </a:pPr>
            <a:r>
              <a:rPr lang="fr-SN" dirty="0"/>
              <a:t> cartes.forEach(card =&gt; {      card.style.display =     </a:t>
            </a:r>
          </a:p>
          <a:p>
            <a:pPr marL="0" indent="0">
              <a:buNone/>
            </a:pPr>
            <a:r>
              <a:rPr lang="fr-SN" dirty="0"/>
              <a:t>   (category === "Tous" || card.dataset.name === category)     </a:t>
            </a:r>
          </a:p>
          <a:p>
            <a:pPr marL="0" indent="0">
              <a:buNone/>
            </a:pPr>
            <a:r>
              <a:rPr lang="fr-SN" dirty="0"/>
              <a:t>   ? "block" : "none";  </a:t>
            </a:r>
          </a:p>
          <a:p>
            <a:pPr marL="0" indent="0">
              <a:buNone/>
            </a:pPr>
            <a:r>
              <a:rPr lang="fr-SN" dirty="0"/>
              <a:t>  }); </a:t>
            </a:r>
          </a:p>
          <a:p>
            <a:pPr marL="0" indent="0">
              <a:buNone/>
            </a:pPr>
            <a:r>
              <a:rPr lang="fr-SN" dirty="0"/>
              <a:t> });</a:t>
            </a:r>
          </a:p>
          <a:p>
            <a:pPr marL="0" indent="0">
              <a:buNone/>
            </a:pPr>
            <a:r>
              <a:rPr lang="fr-SN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503465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551C99-7664-FADC-4978-3C10035E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fr-SN" sz="3600"/>
              <a:t> — GESTION DE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4247FC-6591-33EF-008D-5DCE14770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fr-SN" sz="1800" b="1"/>
              <a:t>Organisation &amp; versioning</a:t>
            </a:r>
          </a:p>
          <a:p>
            <a:r>
              <a:rPr lang="fr-SN" sz="1800"/>
              <a:t>Workflow Git</a:t>
            </a:r>
          </a:p>
          <a:p>
            <a:pPr marL="0" indent="0">
              <a:buNone/>
            </a:pPr>
            <a:r>
              <a:rPr lang="fr-SN" sz="1800"/>
              <a:t>Branche main pour la version stable, commits réguliers et descriptifs, revue avant fusion</a:t>
            </a:r>
          </a:p>
          <a:p>
            <a:r>
              <a:rPr lang="fr-SN" sz="1800"/>
              <a:t>Historique des commits</a:t>
            </a:r>
          </a:p>
          <a:p>
            <a:endParaRPr lang="fr-SN" sz="1800"/>
          </a:p>
          <a:p>
            <a:pPr marL="0" indent="0">
              <a:buNone/>
            </a:pPr>
            <a:r>
              <a:rPr lang="fr-SN" sz="1800"/>
              <a:t>GitHub Pages[À compléter avec le lien de démo en ligne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17A31A9-CB65-6321-03D4-59B8F1B6C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898526"/>
            <a:ext cx="5628018" cy="282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30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60758C-F28F-8C53-D841-73BFEE5F2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SN" dirty="0"/>
              <a:t> — DÉFIS &amp; APPRENTISSAGES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249895-1C3D-3177-AF64-40F72A2D4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212"/>
            <a:ext cx="10515600" cy="5199529"/>
          </a:xfrm>
        </p:spPr>
        <p:txBody>
          <a:bodyPr>
            <a:normAutofit/>
          </a:bodyPr>
          <a:lstStyle/>
          <a:p>
            <a:r>
              <a:rPr lang="fr-SN" b="1" dirty="0"/>
              <a:t>Ce qu'on a appris en le construisant</a:t>
            </a:r>
          </a:p>
          <a:p>
            <a:pPr marL="0" indent="0">
              <a:buNone/>
            </a:pPr>
            <a:r>
              <a:rPr lang="fr-SN" dirty="0"/>
              <a:t>Incohérences de données (dates du planning, valeurs du formulaire pays)</a:t>
            </a:r>
          </a:p>
          <a:p>
            <a:pPr marL="0" indent="0">
              <a:buNone/>
            </a:pPr>
            <a:r>
              <a:rPr lang="fr-SN" dirty="0"/>
              <a:t> → Relecture croisée du contenu avant mise en ligne</a:t>
            </a:r>
          </a:p>
          <a:p>
            <a:pPr marL="0" indent="0">
              <a:buNone/>
            </a:pPr>
            <a:r>
              <a:rPr lang="fr-SN" dirty="0"/>
              <a:t>  Responsive design (grilles, tableau, formulaire sur mobile)</a:t>
            </a:r>
          </a:p>
          <a:p>
            <a:pPr marL="0" indent="0">
              <a:buNone/>
            </a:pPr>
            <a:r>
              <a:rPr lang="fr-SN" dirty="0"/>
              <a:t>  → Media queries dédiées et tests multi-écrans</a:t>
            </a:r>
          </a:p>
          <a:p>
            <a:pPr marL="0" indent="0">
              <a:buNone/>
            </a:pPr>
            <a:r>
              <a:rPr lang="fr-SN" dirty="0"/>
              <a:t>  Validation sans backend</a:t>
            </a:r>
          </a:p>
          <a:p>
            <a:pPr marL="0" indent="0">
              <a:buNone/>
            </a:pPr>
            <a:r>
              <a:rPr lang="fr-SN" dirty="0"/>
              <a:t> → Regex JavaScript et gestion d'état visuel (classes CSS)</a:t>
            </a:r>
          </a:p>
          <a:p>
            <a:pPr marL="0" indent="0">
              <a:buNone/>
            </a:pPr>
            <a:r>
              <a:rPr lang="fr-SN" dirty="0"/>
              <a:t> </a:t>
            </a:r>
            <a:r>
              <a:rPr lang="fr-SN" b="1" dirty="0"/>
              <a:t>Ressources</a:t>
            </a:r>
          </a:p>
          <a:p>
            <a:pPr>
              <a:buFontTx/>
              <a:buChar char="-"/>
            </a:pPr>
            <a:r>
              <a:rPr lang="fr-SN" dirty="0"/>
              <a:t>MDN Web Docs</a:t>
            </a:r>
          </a:p>
          <a:p>
            <a:pPr>
              <a:buFontTx/>
              <a:buChar char="-"/>
            </a:pPr>
            <a:r>
              <a:rPr lang="fr-SN" dirty="0"/>
              <a:t>Bootstrap Icons</a:t>
            </a:r>
          </a:p>
          <a:p>
            <a:pPr>
              <a:buFontTx/>
              <a:buChar char="-"/>
            </a:pPr>
            <a:r>
              <a:rPr lang="fr-SN" dirty="0"/>
              <a:t>Google Fonts</a:t>
            </a:r>
          </a:p>
          <a:p>
            <a:pPr marL="0" indent="0">
              <a:buNone/>
            </a:pPr>
            <a:r>
              <a:rPr lang="fr-SN" dirty="0"/>
              <a:t>- Can I Use- Stack Overflow</a:t>
            </a:r>
          </a:p>
        </p:txBody>
      </p:sp>
    </p:spTree>
    <p:extLst>
      <p:ext uri="{BB962C8B-B14F-4D97-AF65-F5344CB8AC3E}">
        <p14:creationId xmlns:p14="http://schemas.microsoft.com/office/powerpoint/2010/main" val="3440513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386723-34EE-6C7E-0EB5-0F69964A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__Aperçu des 4 pages du site</a:t>
            </a:r>
            <a:endParaRPr lang="fr-SN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29BDC3C-5967-DCBE-D889-2CABFE8FD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70515" y="1775561"/>
            <a:ext cx="4305530" cy="210464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19CEACA-8301-D834-BF95-75E37C3D0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174" y="1624868"/>
            <a:ext cx="4444626" cy="225533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7E2D073-F6CF-4CB4-EF6E-484A00C49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78" y="4408261"/>
            <a:ext cx="4525921" cy="217263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25F5CE9-E7A9-DF56-B2A2-0F4D098622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167" y="4408261"/>
            <a:ext cx="4554435" cy="2290594"/>
          </a:xfrm>
          <a:prstGeom prst="rect">
            <a:avLst/>
          </a:prstGeom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98CCBB6F-5EE3-C408-4B71-2A187B020EE1}"/>
              </a:ext>
            </a:extLst>
          </p:cNvPr>
          <p:cNvSpPr/>
          <p:nvPr/>
        </p:nvSpPr>
        <p:spPr>
          <a:xfrm>
            <a:off x="0" y="1911604"/>
            <a:ext cx="1570079" cy="1325563"/>
          </a:xfrm>
          <a:prstGeom prst="rightArrow">
            <a:avLst/>
          </a:prstGeom>
          <a:solidFill>
            <a:srgbClr val="0D3B3E"/>
          </a:solidFill>
          <a:ln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ACCEUIL</a:t>
            </a:r>
            <a:endParaRPr lang="fr-SN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2E0BA99-83A1-2198-05F0-18D6159BC042}"/>
              </a:ext>
            </a:extLst>
          </p:cNvPr>
          <p:cNvSpPr/>
          <p:nvPr/>
        </p:nvSpPr>
        <p:spPr>
          <a:xfrm>
            <a:off x="-76201" y="5494578"/>
            <a:ext cx="1986947" cy="914400"/>
          </a:xfrm>
          <a:prstGeom prst="roundRect">
            <a:avLst/>
          </a:prstGeom>
          <a:solidFill>
            <a:srgbClr val="0D3B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INTERVENANTS</a:t>
            </a:r>
            <a:endParaRPr lang="fr-SN" dirty="0"/>
          </a:p>
        </p:txBody>
      </p: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2053D4D5-0F99-7F4C-F734-A66A9661DCB7}"/>
              </a:ext>
            </a:extLst>
          </p:cNvPr>
          <p:cNvSpPr/>
          <p:nvPr/>
        </p:nvSpPr>
        <p:spPr>
          <a:xfrm>
            <a:off x="9466729" y="-30858"/>
            <a:ext cx="1454756" cy="1806419"/>
          </a:xfrm>
          <a:prstGeom prst="downArrow">
            <a:avLst/>
          </a:prstGeom>
          <a:solidFill>
            <a:srgbClr val="0D3B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PROGRAMME</a:t>
            </a:r>
            <a:endParaRPr lang="fr-SN" dirty="0"/>
          </a:p>
        </p:txBody>
      </p:sp>
      <p:sp>
        <p:nvSpPr>
          <p:cNvPr id="18" name="Flèche : pentagone 17">
            <a:extLst>
              <a:ext uri="{FF2B5EF4-FFF2-40B4-BE49-F238E27FC236}">
                <a16:creationId xmlns:a16="http://schemas.microsoft.com/office/drawing/2014/main" id="{24E38494-54C3-A948-E16E-AD621091574A}"/>
              </a:ext>
            </a:extLst>
          </p:cNvPr>
          <p:cNvSpPr/>
          <p:nvPr/>
        </p:nvSpPr>
        <p:spPr>
          <a:xfrm>
            <a:off x="6200962" y="5709462"/>
            <a:ext cx="1416424" cy="484632"/>
          </a:xfrm>
          <a:prstGeom prst="homePlate">
            <a:avLst/>
          </a:prstGeom>
          <a:solidFill>
            <a:srgbClr val="0D3B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</a:t>
            </a: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895330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FAF3E5-DF14-9997-8625-B1129606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08847"/>
          </a:xfrm>
        </p:spPr>
        <p:txBody>
          <a:bodyPr/>
          <a:lstStyle/>
          <a:p>
            <a:r>
              <a:rPr lang="fr-SN" dirty="0"/>
              <a:t> — Presensation des pages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0BC8A4-49B4-A4F8-EF96-66993C134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165" y="1147481"/>
            <a:ext cx="10887635" cy="5710517"/>
          </a:xfrm>
        </p:spPr>
        <p:txBody>
          <a:bodyPr>
            <a:normAutofit fontScale="92500" lnSpcReduction="20000"/>
          </a:bodyPr>
          <a:lstStyle/>
          <a:p>
            <a:r>
              <a:rPr lang="fr-SN" dirty="0"/>
              <a:t>Un site vitrine en 4 pages</a:t>
            </a:r>
          </a:p>
          <a:p>
            <a:endParaRPr lang="fr-SN" dirty="0"/>
          </a:p>
          <a:p>
            <a:pPr marL="0" indent="0">
              <a:buNone/>
            </a:pPr>
            <a:r>
              <a:rPr lang="fr-SN" dirty="0"/>
              <a:t>Accueil</a:t>
            </a:r>
          </a:p>
          <a:p>
            <a:pPr marL="0" indent="0">
              <a:buNone/>
            </a:pPr>
            <a:r>
              <a:rPr lang="fr-SN" dirty="0"/>
              <a:t>Présentation, compte à rebours, chiffres clés.</a:t>
            </a:r>
          </a:p>
          <a:p>
            <a:pPr marL="0" indent="0">
              <a:buNone/>
            </a:pPr>
            <a:endParaRPr lang="fr-SN" dirty="0"/>
          </a:p>
          <a:p>
            <a:pPr marL="0" indent="0">
              <a:buNone/>
            </a:pPr>
            <a:r>
              <a:rPr lang="fr-SN" dirty="0"/>
              <a:t>Programme</a:t>
            </a:r>
          </a:p>
          <a:p>
            <a:pPr marL="0" indent="0">
              <a:buNone/>
            </a:pPr>
            <a:r>
              <a:rPr lang="fr-SN" dirty="0"/>
              <a:t>Planning des 3 jours à onglets.</a:t>
            </a:r>
          </a:p>
          <a:p>
            <a:pPr marL="0" indent="0">
              <a:buNone/>
            </a:pPr>
            <a:endParaRPr lang="fr-SN" dirty="0"/>
          </a:p>
          <a:p>
            <a:pPr marL="0" indent="0">
              <a:buNone/>
            </a:pPr>
            <a:r>
              <a:rPr lang="fr-SN" dirty="0"/>
              <a:t>Intervenants</a:t>
            </a:r>
          </a:p>
          <a:p>
            <a:pPr marL="0" indent="0">
              <a:buNone/>
            </a:pPr>
            <a:r>
              <a:rPr lang="fr-SN" dirty="0"/>
              <a:t>Liste filtrable par catégorie.</a:t>
            </a:r>
          </a:p>
          <a:p>
            <a:pPr marL="0" indent="0">
              <a:buNone/>
            </a:pPr>
            <a:endParaRPr lang="fr-SN" dirty="0"/>
          </a:p>
          <a:p>
            <a:pPr marL="0" indent="0">
              <a:buNone/>
            </a:pPr>
            <a:r>
              <a:rPr lang="fr-SN" dirty="0"/>
              <a:t>Contact</a:t>
            </a:r>
          </a:p>
          <a:p>
            <a:pPr marL="0" indent="0">
              <a:buNone/>
            </a:pPr>
            <a:r>
              <a:rPr lang="fr-SN" dirty="0"/>
              <a:t>Inscription validée, FAQ, localisation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fr-SN" dirty="0"/>
          </a:p>
          <a:p>
            <a:pPr marL="0" indent="0">
              <a:buNone/>
            </a:pPr>
            <a:r>
              <a:rPr lang="fr-SN" dirty="0"/>
              <a:t>Un site statique HTML / CSS / JS, responsive, sans backend, pensé pour être livré rapidement.</a:t>
            </a:r>
          </a:p>
        </p:txBody>
      </p:sp>
    </p:spTree>
    <p:extLst>
      <p:ext uri="{BB962C8B-B14F-4D97-AF65-F5344CB8AC3E}">
        <p14:creationId xmlns:p14="http://schemas.microsoft.com/office/powerpoint/2010/main" val="3346386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43959E-1F31-7FA3-52BF-D05E44016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37128"/>
          </a:xfrm>
        </p:spPr>
        <p:txBody>
          <a:bodyPr/>
          <a:lstStyle/>
          <a:p>
            <a:r>
              <a:rPr lang="fr-SN" dirty="0"/>
              <a:t> — RÉSULTAT &amp; PERSPECTIVES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BDBEE5-F25D-6C1B-83C7-3F0982D45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129"/>
            <a:ext cx="10515600" cy="5620870"/>
          </a:xfrm>
        </p:spPr>
        <p:txBody>
          <a:bodyPr>
            <a:normAutofit/>
          </a:bodyPr>
          <a:lstStyle/>
          <a:p>
            <a:r>
              <a:rPr lang="fr-SN" sz="3800" dirty="0"/>
              <a:t>Résultat, démo &amp; perspectives</a:t>
            </a:r>
          </a:p>
          <a:p>
            <a:pPr marL="0" indent="0">
              <a:buNone/>
            </a:pPr>
            <a:r>
              <a:rPr lang="fr-SN" b="1" dirty="0"/>
              <a:t>Démonstration live</a:t>
            </a:r>
          </a:p>
          <a:p>
            <a:pPr marL="0" indent="0">
              <a:buNone/>
            </a:pPr>
            <a:r>
              <a:rPr lang="fr-SN" dirty="0"/>
              <a:t>Parcours : Accueil → Programme → Intervenants → Contact → mode sombre</a:t>
            </a:r>
          </a:p>
          <a:p>
            <a:r>
              <a:rPr lang="fr-SN" dirty="0"/>
              <a:t>Bilan</a:t>
            </a:r>
          </a:p>
          <a:p>
            <a:pPr marL="0" indent="0">
              <a:buNone/>
            </a:pPr>
            <a:r>
              <a:rPr lang="fr-SN" dirty="0"/>
              <a:t>  Un site fonctionnel, responsive et fidèle à l'identité visuelle définie en amont.</a:t>
            </a:r>
          </a:p>
          <a:p>
            <a:r>
              <a:rPr lang="fr-SN" b="1" dirty="0"/>
              <a:t>Perspectives</a:t>
            </a:r>
          </a:p>
          <a:p>
            <a:pPr marL="0" indent="0">
              <a:buNone/>
            </a:pPr>
            <a:r>
              <a:rPr lang="fr-SN" dirty="0"/>
              <a:t>- Backend réel pour l'inscription</a:t>
            </a:r>
          </a:p>
          <a:p>
            <a:pPr marL="0" indent="0">
              <a:buNone/>
            </a:pPr>
            <a:r>
              <a:rPr lang="fr-SN" dirty="0"/>
              <a:t>- Corrections de contenu identifiées</a:t>
            </a:r>
          </a:p>
          <a:p>
            <a:pPr marL="0" indent="0">
              <a:buNone/>
            </a:pPr>
            <a:r>
              <a:rPr lang="fr-SN" dirty="0"/>
              <a:t>- Accessibilité (contrastes, ARIA)</a:t>
            </a:r>
          </a:p>
          <a:p>
            <a:pPr>
              <a:buFontTx/>
              <a:buChar char="-"/>
            </a:pPr>
            <a:r>
              <a:rPr lang="fr-SN" dirty="0"/>
              <a:t>Version multilingue (FR / EN)</a:t>
            </a:r>
          </a:p>
          <a:p>
            <a:pPr marL="0" indent="0">
              <a:buNone/>
            </a:pPr>
            <a:r>
              <a:rPr lang="fr-SN" dirty="0"/>
              <a:t>Merci pour votre attention — Questions ?</a:t>
            </a:r>
          </a:p>
        </p:txBody>
      </p:sp>
    </p:spTree>
    <p:extLst>
      <p:ext uri="{BB962C8B-B14F-4D97-AF65-F5344CB8AC3E}">
        <p14:creationId xmlns:p14="http://schemas.microsoft.com/office/powerpoint/2010/main" val="2397696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Personnalisé 1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</TotalTime>
  <Words>812</Words>
  <Application>Microsoft Office PowerPoint</Application>
  <PresentationFormat>Grand écran</PresentationFormat>
  <Paragraphs>152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Century Gothic</vt:lpstr>
      <vt:lpstr>Wingdings</vt:lpstr>
      <vt:lpstr>Wingdings 3</vt:lpstr>
      <vt:lpstr>Ion</vt:lpstr>
      <vt:lpstr>AfriconnectSummit </vt:lpstr>
      <vt:lpstr>— Sommaire</vt:lpstr>
      <vt:lpstr>__Présentation du projet</vt:lpstr>
      <vt:lpstr> — CAHIER DES CHARGES</vt:lpstr>
      <vt:lpstr> — DESIGN SYSTEM</vt:lpstr>
      <vt:lpstr> — ARCHITECTURE</vt:lpstr>
      <vt:lpstr> — FONCTIONNALITÉS PHARES</vt:lpstr>
      <vt:lpstr> — GESTION DE PROJET</vt:lpstr>
      <vt:lpstr> — DÉFIS &amp; APPRENTISSAGES</vt:lpstr>
      <vt:lpstr>__Aperçu des 4 pages du site</vt:lpstr>
      <vt:lpstr> — Presensation des pages</vt:lpstr>
      <vt:lpstr> — RÉSULTAT &amp; 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marieta kebe</dc:creator>
  <cp:lastModifiedBy>marieta kebe</cp:lastModifiedBy>
  <cp:revision>5</cp:revision>
  <dcterms:created xsi:type="dcterms:W3CDTF">2026-08-01T15:19:05Z</dcterms:created>
  <dcterms:modified xsi:type="dcterms:W3CDTF">2026-08-02T12:30:00Z</dcterms:modified>
</cp:coreProperties>
</file>